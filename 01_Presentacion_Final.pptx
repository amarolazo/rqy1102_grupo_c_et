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EB908D-FF4B-4C89-8A5A-E02D8CBB5EC3}">
  <a:tblStyle styleId="{99EB908D-FF4B-4C89-8A5A-E02D8CBB5EC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4438b590b_0_2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f4438b590b_0_2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4438b590b_0_3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f4438b590b_0_3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4438b590b_0_4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f4438b590b_0_4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4438b590b_0_5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4438b590b_0_5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4438b590b_0_7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4438b590b_0_7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4438b590b_0_8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f4438b590b_0_8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4438b590b_0_10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4438b590b_0_10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467d56496_0_1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f467d56496_0_1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400" y="49500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0" y="2707920"/>
            <a:ext cx="12191760" cy="112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“GESTIÓN DE EDIFICIO MIRADOR”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DE SOFTWARE | RQY1102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scuelaIT Duoc UC - Escuela de Informática y Telecomunicaciones Duoc UC - Duoc  UC | LinkedIn" id="23" name="Google Shape;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8040" y="4463280"/>
            <a:ext cx="4535640" cy="114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20" y="207720"/>
            <a:ext cx="3141000" cy="7851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4"/>
          <p:cNvGrpSpPr/>
          <p:nvPr/>
        </p:nvGrpSpPr>
        <p:grpSpPr>
          <a:xfrm>
            <a:off x="4120920" y="1710720"/>
            <a:ext cx="7633494" cy="4350553"/>
            <a:chOff x="0" y="0"/>
            <a:chExt cx="7633494" cy="4350553"/>
          </a:xfrm>
        </p:grpSpPr>
        <p:sp>
          <p:nvSpPr>
            <p:cNvPr id="30" name="Google Shape;30;p4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Amaro Lazo</a:t>
              </a:r>
              <a:endParaRPr b="0" i="0" sz="2600" u="none" cap="none" strike="noStrike">
                <a:solidFill>
                  <a:schemeClr val="lt1"/>
                </a:solidFill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 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y Tester</a:t>
              </a:r>
              <a:endParaRPr b="0" i="0" sz="2000" u="none" cap="none" strike="noStrike">
                <a:solidFill>
                  <a:schemeClr val="lt1"/>
                </a:solidFill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Brandon Cantero</a:t>
              </a:r>
              <a:endParaRPr b="0" i="0" sz="2600" u="none" cap="none" strike="noStrike">
                <a:solidFill>
                  <a:schemeClr val="lt1"/>
                </a:solidFill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 Diseñador Y Tester</a:t>
              </a:r>
              <a:endParaRPr b="0" i="0" sz="2000" u="none" cap="none" strike="noStrike">
                <a:solidFill>
                  <a:schemeClr val="lt1"/>
                </a:solidFill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 </a:t>
              </a:r>
              <a:endParaRPr b="0" i="0" sz="20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Sebastián Soto</a:t>
              </a:r>
              <a:endParaRPr b="0" i="0" sz="2600" u="none" cap="none" strike="noStrike">
                <a:solidFill>
                  <a:schemeClr val="lt1"/>
                </a:solidFill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 Gestor 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del proyecto Y Tester</a:t>
              </a:r>
              <a:endParaRPr b="0" i="0" sz="2000" u="none" cap="none" strike="noStrike">
                <a:solidFill>
                  <a:schemeClr val="lt1"/>
                </a:solidFill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4"/>
          <p:cNvSpPr/>
          <p:nvPr/>
        </p:nvSpPr>
        <p:spPr>
          <a:xfrm>
            <a:off x="136080" y="369000"/>
            <a:ext cx="121917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DE EDIFICIO MIRADOR”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38320" y="3058560"/>
            <a:ext cx="3608640" cy="173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INTEGRANTES, ROLES Y TIPO DE ORGANIZACIÓN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0" y="757800"/>
            <a:ext cx="4085640" cy="360"/>
          </a:xfrm>
          <a:prstGeom prst="straightConnector1">
            <a:avLst/>
          </a:prstGeom>
          <a:noFill/>
          <a:ln cap="flat" cmpd="sng" w="15875">
            <a:solidFill>
              <a:srgbClr val="ABC0E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20" y="20772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/>
          <p:nvPr/>
        </p:nvSpPr>
        <p:spPr>
          <a:xfrm>
            <a:off x="136080" y="369000"/>
            <a:ext cx="121917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DE EDIFICIO MIRADOR”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0" y="1130760"/>
            <a:ext cx="1219176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Y PROPUESTA DE SOLUCIÓN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49;p5"/>
          <p:cNvCxnSpPr/>
          <p:nvPr/>
        </p:nvCxnSpPr>
        <p:spPr>
          <a:xfrm>
            <a:off x="0" y="757800"/>
            <a:ext cx="4085640" cy="360"/>
          </a:xfrm>
          <a:prstGeom prst="straightConnector1">
            <a:avLst/>
          </a:prstGeom>
          <a:noFill/>
          <a:ln cap="flat" cmpd="sng" w="15875">
            <a:solidFill>
              <a:srgbClr val="ABC0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5"/>
          <p:cNvSpPr/>
          <p:nvPr/>
        </p:nvSpPr>
        <p:spPr>
          <a:xfrm>
            <a:off x="714960" y="2169720"/>
            <a:ext cx="4348440" cy="4092120"/>
          </a:xfrm>
          <a:prstGeom prst="roundRect">
            <a:avLst>
              <a:gd fmla="val 10901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/ Necesidad del Cliente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Edificio Mirador presenta problemas administrativos y de gestión de gastos comunes, lo que aumenta el riesgo de impagos, retrasos en mantenciones y afecta la estabilidad financiera y la seguridad de los residentes.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912000" y="2177280"/>
            <a:ext cx="4348440" cy="4092120"/>
          </a:xfrm>
          <a:prstGeom prst="roundRect">
            <a:avLst>
              <a:gd fmla="val 10901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 de Software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Ecosistema digital que automatiza el cálculo de gastos comunes, el registro de pagos, la identificación de morosidad y la comunicación con residentes, aportando transparencia y eficiencia a la administración del edificio.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456880" y="3736080"/>
            <a:ext cx="1140120" cy="7567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472C4"/>
          </a:solidFill>
          <a:ln cap="flat" cmpd="sng" w="12700">
            <a:solidFill>
              <a:srgbClr val="1D315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57" name="Google Shape;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20" y="20772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/>
          <p:nvPr/>
        </p:nvSpPr>
        <p:spPr>
          <a:xfrm>
            <a:off x="136080" y="369000"/>
            <a:ext cx="121917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DE EDIFICIO MIRADOR”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0" y="1384200"/>
            <a:ext cx="1219176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 DEL SOFTWARE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p6"/>
          <p:cNvCxnSpPr/>
          <p:nvPr/>
        </p:nvCxnSpPr>
        <p:spPr>
          <a:xfrm>
            <a:off x="0" y="757800"/>
            <a:ext cx="4085640" cy="360"/>
          </a:xfrm>
          <a:prstGeom prst="straightConnector1">
            <a:avLst/>
          </a:prstGeom>
          <a:noFill/>
          <a:ln cap="flat" cmpd="sng" w="15875">
            <a:solidFill>
              <a:srgbClr val="ABC0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6"/>
          <p:cNvSpPr/>
          <p:nvPr/>
        </p:nvSpPr>
        <p:spPr>
          <a:xfrm>
            <a:off x="0" y="4082400"/>
            <a:ext cx="1219176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Fases aplicadas al proyecto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614520" y="2040480"/>
            <a:ext cx="10962720" cy="157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→ Diseño → Desarrollo → Testing → Mantenimiento. El proyecto se organizó en 5 fases: Fase 1 (Levantamiento de requisitos), Fase 2 (Diseño de arquitectura, modelo de datos y UI/UX), Fase 3 (Desarrollo de los módulos de usuarios, pagos, informes y solicitudes), Fase 4 (Pruebas funcionales y no funcionales) y Fase 5 (Comunicación con el cliente, validación y cierre/despliegue), cada una ejecutada de forma secuencial según la Carta Gantt.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14520" y="4732560"/>
            <a:ext cx="10962720" cy="157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Normativa aplicada: Modelo en cascada (enfoque secuencial por fases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y ISO/IEC/IEEE 42010 para la arquitectura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Se justifica su elección porque las fases del proyecto (requisitos, diseño, desarrollo, pruebas y cierre) se ejecutan de forma ordenada y consecutiva, lo que facilita el control del avance y del presupuesto en un proyecto con alcance bien definido desde el inicio.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68" name="Google Shape;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20" y="20772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7"/>
          <p:cNvSpPr/>
          <p:nvPr/>
        </p:nvSpPr>
        <p:spPr>
          <a:xfrm>
            <a:off x="136080" y="369000"/>
            <a:ext cx="121917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DE EDIFICIO MIRADOR”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0" y="1432800"/>
            <a:ext cx="1219176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OBJETIVOS, ALCANCE Y LIMITACIONES DEL PROYECTO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" name="Google Shape;71;p7"/>
          <p:cNvCxnSpPr/>
          <p:nvPr/>
        </p:nvCxnSpPr>
        <p:spPr>
          <a:xfrm>
            <a:off x="0" y="757800"/>
            <a:ext cx="4085640" cy="360"/>
          </a:xfrm>
          <a:prstGeom prst="straightConnector1">
            <a:avLst/>
          </a:prstGeom>
          <a:noFill/>
          <a:ln cap="flat" cmpd="sng" w="15875">
            <a:solidFill>
              <a:srgbClr val="ABC0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7"/>
          <p:cNvSpPr/>
          <p:nvPr/>
        </p:nvSpPr>
        <p:spPr>
          <a:xfrm>
            <a:off x="614520" y="2250000"/>
            <a:ext cx="10962720" cy="43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90000" lIns="180000" spcFirstLastPara="1" rIns="18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s-CL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s-CL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e implementar soluciones tecnológicas para automatizar la administración y gestión del edificio “El Mirador”, garantizando transparencia, solidez financiera y una comunicación eficaz entre residentes y administración.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s-CL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s-CL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automatiza el cálculo de gastos comunes, la identificación de morosidad, el registro de pagos, la generación de informes financieros y la comunicación con los residentes del Edificio Mirador.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s-CL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s-CL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Queda fuera del alcance la gestión de nóminas externas y la contabilidad legal compleja del edificio.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77" name="Google Shape;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20" y="20772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/>
          <p:nvPr/>
        </p:nvSpPr>
        <p:spPr>
          <a:xfrm>
            <a:off x="136080" y="369000"/>
            <a:ext cx="121917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DE EDIFICIO MIRADOR”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0" y="1432800"/>
            <a:ext cx="1219176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ESTRATEGIAS DE GESTIÓN DEL PROYECTO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8"/>
          <p:cNvCxnSpPr/>
          <p:nvPr/>
        </p:nvCxnSpPr>
        <p:spPr>
          <a:xfrm>
            <a:off x="0" y="757800"/>
            <a:ext cx="4085640" cy="360"/>
          </a:xfrm>
          <a:prstGeom prst="straightConnector1">
            <a:avLst/>
          </a:prstGeom>
          <a:noFill/>
          <a:ln cap="flat" cmpd="sng" w="15875">
            <a:solidFill>
              <a:srgbClr val="ABC0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8"/>
          <p:cNvSpPr/>
          <p:nvPr/>
        </p:nvSpPr>
        <p:spPr>
          <a:xfrm>
            <a:off x="614520" y="2250000"/>
            <a:ext cx="10962720" cy="43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90000" lIns="180000" spcFirstLastPara="1" rIns="18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s-CL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Enfoque en cascada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s-CL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se gestionó bajo un enfoque en cascada, ejecutando las fases de forma secuencial (requisitos, diseño, desarrollo, pruebas y cierre), tal como se definió en la Carta Gantt, sin avanzar a la siguiente fase hasta completar y validar la anterior.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s-CL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Roles y responsables por fase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s-CL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Analista (levantamiento de requisitos), Diseñador (arquitectura, modelo de datos y UI/UX), Equipo de Desarrollo (construcción de los módulos), Tester (pruebas funcionales y no funcionales) y Gestor de Proyecto (comunicación con el cliente, cierre y despliegue).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s-CL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avance y presupuesto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s-CL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avance se controla comparando el cumplimiento de cada fase contra las fechas de inicio/término y el costo estimado definidos en la Carta Gantt.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6" name="Google Shape;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20" y="20772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9"/>
          <p:cNvSpPr/>
          <p:nvPr/>
        </p:nvSpPr>
        <p:spPr>
          <a:xfrm>
            <a:off x="136080" y="369000"/>
            <a:ext cx="121917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DE EDIFICIO MIRADOR”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0" y="1155600"/>
            <a:ext cx="12191760" cy="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DEL PROYECTO (EDT + CARTA GANTT)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Adjuntar Carta Gantt detallada. Indicar avance y cumplimiento al término del proyecto.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9"/>
          <p:cNvCxnSpPr/>
          <p:nvPr/>
        </p:nvCxnSpPr>
        <p:spPr>
          <a:xfrm>
            <a:off x="0" y="757800"/>
            <a:ext cx="4085640" cy="360"/>
          </a:xfrm>
          <a:prstGeom prst="straightConnector1">
            <a:avLst/>
          </a:prstGeom>
          <a:noFill/>
          <a:ln cap="flat" cmpd="sng" w="15875">
            <a:solidFill>
              <a:srgbClr val="ABC0E4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90" name="Google Shape;90;p9"/>
          <p:cNvGraphicFramePr/>
          <p:nvPr/>
        </p:nvGraphicFramePr>
        <p:xfrm>
          <a:off x="379415" y="24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{99EB908D-FF4B-4C89-8A5A-E02D8CBB5EC3}</a:tableStyleId>
              </a:tblPr>
              <a:tblGrid>
                <a:gridCol w="3224075"/>
                <a:gridCol w="1074075"/>
                <a:gridCol w="296925"/>
                <a:gridCol w="296925"/>
                <a:gridCol w="296925"/>
                <a:gridCol w="296925"/>
                <a:gridCol w="296925"/>
                <a:gridCol w="296925"/>
                <a:gridCol w="296925"/>
                <a:gridCol w="296925"/>
                <a:gridCol w="296925"/>
                <a:gridCol w="296925"/>
                <a:gridCol w="296925"/>
                <a:gridCol w="296925"/>
                <a:gridCol w="296925"/>
                <a:gridCol w="296925"/>
                <a:gridCol w="296925"/>
                <a:gridCol w="296925"/>
                <a:gridCol w="296925"/>
                <a:gridCol w="296925"/>
                <a:gridCol w="296925"/>
                <a:gridCol w="296925"/>
                <a:gridCol w="867950"/>
              </a:tblGrid>
              <a:tr h="38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 a Cargo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S2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S3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S4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S5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S6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S7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S8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S9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S10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S11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S12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S13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S14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S15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S16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S17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S18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S19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7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S20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</a:tr>
              <a:tr h="32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1: Levantamiento y recolección de requisitos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7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Analista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7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Completado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8D4"/>
                    </a:solidFill>
                  </a:tcPr>
                </a:tc>
              </a:tr>
              <a:tr h="32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2: Diseño de arquitectura, modelo de datos y UML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7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Diseñador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7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Completado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8D4"/>
                    </a:solidFill>
                  </a:tcPr>
                </a:tc>
              </a:tr>
              <a:tr h="32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2: Diseño de interfaz y experiencia (UI/UX)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7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Diseñador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7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Completado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8D4"/>
                    </a:solidFill>
                  </a:tcPr>
                </a:tc>
              </a:tr>
              <a:tr h="32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3: Desarrollo Módulo Usuarios y Personal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7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Equipo de Desarrollo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7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Completado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8D4"/>
                    </a:solidFill>
                  </a:tcPr>
                </a:tc>
              </a:tr>
              <a:tr h="32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3: Desarrollo Módulo Pagos y Cobranzas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7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Equipo de Desarrollo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7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Completado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8D4"/>
                    </a:solidFill>
                  </a:tcPr>
                </a:tc>
              </a:tr>
              <a:tr h="32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3: Desarrollo Módulo Informes y Alertas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7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Equipo de Desarrollo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7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Completado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8D4"/>
                    </a:solidFill>
                  </a:tcPr>
                </a:tc>
              </a:tr>
              <a:tr h="32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3: Desarrollo Módulo Solicitudes y Quejas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7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Equipo de Desarrollo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Completado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8D4"/>
                    </a:solidFill>
                  </a:tcPr>
                </a:tc>
              </a:tr>
              <a:tr h="32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4: Pruebas funcionales, no funcionales y reporte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7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Tester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Completado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8D4"/>
                    </a:solidFill>
                  </a:tcPr>
                </a:tc>
              </a:tr>
              <a:tr h="32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5: Comunicación con cliente y validación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7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Gestor de Proyecto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7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5: Cierre, control de presupuesto y despliegue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7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Gestor de Proyecto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7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/>
                    </a:p>
                  </a:txBody>
                  <a:tcPr marT="45725" marB="45725" marR="45000" marL="45000" anchor="ctr">
                    <a:lnL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5" name="Google Shape;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20" y="20772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0"/>
          <p:cNvSpPr/>
          <p:nvPr/>
        </p:nvSpPr>
        <p:spPr>
          <a:xfrm>
            <a:off x="136080" y="369000"/>
            <a:ext cx="121917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DE EDIFICIO MIRADOR”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-115575" y="901100"/>
            <a:ext cx="12191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SOFTWARE - MODELO 4+1 (UML)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0"/>
          <p:cNvCxnSpPr/>
          <p:nvPr/>
        </p:nvCxnSpPr>
        <p:spPr>
          <a:xfrm>
            <a:off x="0" y="757800"/>
            <a:ext cx="4085700" cy="300"/>
          </a:xfrm>
          <a:prstGeom prst="straightConnector1">
            <a:avLst/>
          </a:prstGeom>
          <a:noFill/>
          <a:ln cap="flat" cmpd="sng" w="15875">
            <a:solidFill>
              <a:srgbClr val="ABC0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10"/>
          <p:cNvSpPr txBox="1"/>
          <p:nvPr/>
        </p:nvSpPr>
        <p:spPr>
          <a:xfrm>
            <a:off x="352575" y="2439100"/>
            <a:ext cx="4269000" cy="3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DIAGRAMA GENERAL DE CASOS DE USO</a:t>
            </a:r>
            <a:r>
              <a:rPr b="1" lang="es-CL" sz="1100">
                <a:solidFill>
                  <a:schemeClr val="dk1"/>
                </a:solidFill>
              </a:rPr>
              <a:t>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100">
                <a:solidFill>
                  <a:schemeClr val="dk1"/>
                </a:solidFill>
              </a:rPr>
              <a:t>El Propósito es representar en base a un diagrama las funciones que estaría utilizando el sistema uniendo los actores con la función correspondiente además de presentar en específico un diagrama sobre la gestión de pagos del SISTEMA</a:t>
            </a:r>
            <a:endParaRPr b="1" sz="2100">
              <a:solidFill>
                <a:schemeClr val="dk1"/>
              </a:solidFill>
            </a:endParaRPr>
          </a:p>
        </p:txBody>
      </p:sp>
      <p:pic>
        <p:nvPicPr>
          <p:cNvPr id="100" name="Google Shape;10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9550" y="1762875"/>
            <a:ext cx="5743575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/>
        </p:nvSpPr>
        <p:spPr>
          <a:xfrm>
            <a:off x="506675" y="1788150"/>
            <a:ext cx="39606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/>
              <a:t>VISTA DE ESCENARIO</a:t>
            </a:r>
            <a:endParaRPr b="1" sz="1800"/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6" name="Google Shape;1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20" y="20772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1"/>
          <p:cNvSpPr/>
          <p:nvPr/>
        </p:nvSpPr>
        <p:spPr>
          <a:xfrm>
            <a:off x="136080" y="369000"/>
            <a:ext cx="121917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DE EDIFICIO MIRADOR”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-115575" y="901100"/>
            <a:ext cx="12191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SOFTWARE - MODELO 4+1 (UML)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11"/>
          <p:cNvCxnSpPr/>
          <p:nvPr/>
        </p:nvCxnSpPr>
        <p:spPr>
          <a:xfrm>
            <a:off x="0" y="757800"/>
            <a:ext cx="4085700" cy="300"/>
          </a:xfrm>
          <a:prstGeom prst="straightConnector1">
            <a:avLst/>
          </a:prstGeom>
          <a:noFill/>
          <a:ln cap="flat" cmpd="sng" w="15875">
            <a:solidFill>
              <a:srgbClr val="ABC0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11"/>
          <p:cNvSpPr txBox="1"/>
          <p:nvPr/>
        </p:nvSpPr>
        <p:spPr>
          <a:xfrm>
            <a:off x="244700" y="1892000"/>
            <a:ext cx="4269000" cy="3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DIAGRAMA DE CASOS DE USO </a:t>
            </a:r>
            <a:r>
              <a:rPr b="1" lang="es-CL" sz="1700">
                <a:solidFill>
                  <a:schemeClr val="dk1"/>
                </a:solidFill>
              </a:rPr>
              <a:t>ESPECÍFICO</a:t>
            </a:r>
            <a:r>
              <a:rPr b="1" lang="es-CL" sz="1700">
                <a:solidFill>
                  <a:schemeClr val="dk1"/>
                </a:solidFill>
              </a:rPr>
              <a:t>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11" name="Google Shape;111;p11"/>
          <p:cNvSpPr txBox="1"/>
          <p:nvPr/>
        </p:nvSpPr>
        <p:spPr>
          <a:xfrm>
            <a:off x="213850" y="1456825"/>
            <a:ext cx="39606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/>
              <a:t>VISTA DE ESCENARIO</a:t>
            </a:r>
            <a:endParaRPr b="1" sz="1800"/>
          </a:p>
        </p:txBody>
      </p:sp>
      <p:pic>
        <p:nvPicPr>
          <p:cNvPr id="112" name="Google Shape;11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0825" y="1590675"/>
            <a:ext cx="5743575" cy="526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451" y="2502800"/>
            <a:ext cx="5300700" cy="388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8" name="Google Shape;1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20" y="20772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2"/>
          <p:cNvSpPr/>
          <p:nvPr/>
        </p:nvSpPr>
        <p:spPr>
          <a:xfrm>
            <a:off x="136080" y="369000"/>
            <a:ext cx="121917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DE EDIFICIO MIRADOR”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315925" y="640025"/>
            <a:ext cx="5068500" cy="14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SOFTWARE - MODELO 4+1 (UML)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12"/>
          <p:cNvCxnSpPr/>
          <p:nvPr/>
        </p:nvCxnSpPr>
        <p:spPr>
          <a:xfrm>
            <a:off x="0" y="757800"/>
            <a:ext cx="4085700" cy="300"/>
          </a:xfrm>
          <a:prstGeom prst="straightConnector1">
            <a:avLst/>
          </a:prstGeom>
          <a:noFill/>
          <a:ln cap="flat" cmpd="sng" w="15875">
            <a:solidFill>
              <a:srgbClr val="ABC0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12"/>
          <p:cNvSpPr txBox="1"/>
          <p:nvPr/>
        </p:nvSpPr>
        <p:spPr>
          <a:xfrm>
            <a:off x="352575" y="2439100"/>
            <a:ext cx="4269000" cy="3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DIAGRAMA DE CLASES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100">
                <a:solidFill>
                  <a:schemeClr val="dk1"/>
                </a:solidFill>
              </a:rPr>
              <a:t>El propósito del diagrama es estructurar visualmente las entidades que intervienen en el registro de un pago, detallando de forma clara sus atributos, métodos e interacciones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136075" y="1572400"/>
            <a:ext cx="4584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/>
              <a:t>VISTA LÓGICA</a:t>
            </a:r>
            <a:endParaRPr b="1" sz="1800"/>
          </a:p>
        </p:txBody>
      </p:sp>
      <p:pic>
        <p:nvPicPr>
          <p:cNvPr id="124" name="Google Shape;124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6086" y="369000"/>
            <a:ext cx="6039514" cy="635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9" name="Google Shape;1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20" y="20772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3"/>
          <p:cNvSpPr/>
          <p:nvPr/>
        </p:nvSpPr>
        <p:spPr>
          <a:xfrm>
            <a:off x="136080" y="369000"/>
            <a:ext cx="121917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DE EDIFICIO MIRADOR”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760975" y="709875"/>
            <a:ext cx="4085700" cy="1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SOFTWARE - MODELO 4+1 (UML)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13"/>
          <p:cNvCxnSpPr/>
          <p:nvPr/>
        </p:nvCxnSpPr>
        <p:spPr>
          <a:xfrm>
            <a:off x="0" y="757800"/>
            <a:ext cx="4085700" cy="300"/>
          </a:xfrm>
          <a:prstGeom prst="straightConnector1">
            <a:avLst/>
          </a:prstGeom>
          <a:noFill/>
          <a:ln cap="flat" cmpd="sng" w="15875">
            <a:solidFill>
              <a:srgbClr val="ABC0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13"/>
          <p:cNvSpPr txBox="1"/>
          <p:nvPr/>
        </p:nvSpPr>
        <p:spPr>
          <a:xfrm>
            <a:off x="1373650" y="1514425"/>
            <a:ext cx="9416100" cy="3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DIAGRAMA DE COMPONENTES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100">
                <a:solidFill>
                  <a:schemeClr val="dk1"/>
                </a:solidFill>
              </a:rPr>
              <a:t>El propósito de este diagrama es mostrar de forma física los componentes del subsistema de pagos y transacciones además muestra cómo se comunican estos componentes mediante interfaces y cómo se almacenan los datos en una base de datos.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5268725" y="758100"/>
            <a:ext cx="39606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/>
              <a:t>VISTA DE </a:t>
            </a:r>
            <a:r>
              <a:rPr b="1" lang="es-CL" sz="1800"/>
              <a:t>IMPLEMENTACIÓN</a:t>
            </a:r>
            <a:r>
              <a:rPr b="1" lang="es-CL" sz="1800"/>
              <a:t>/DESARROLLO</a:t>
            </a:r>
            <a:endParaRPr b="1" sz="1800"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0275" y="3148650"/>
            <a:ext cx="7882850" cy="352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0" name="Google Shape;14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20" y="20772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4"/>
          <p:cNvSpPr/>
          <p:nvPr/>
        </p:nvSpPr>
        <p:spPr>
          <a:xfrm>
            <a:off x="136080" y="369000"/>
            <a:ext cx="121917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DE EDIFICIO MIRADOR”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760975" y="709875"/>
            <a:ext cx="4085700" cy="1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SOFTWARE - MODELO 4+1 (UML)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14"/>
          <p:cNvCxnSpPr/>
          <p:nvPr/>
        </p:nvCxnSpPr>
        <p:spPr>
          <a:xfrm>
            <a:off x="0" y="757800"/>
            <a:ext cx="4085700" cy="300"/>
          </a:xfrm>
          <a:prstGeom prst="straightConnector1">
            <a:avLst/>
          </a:prstGeom>
          <a:noFill/>
          <a:ln cap="flat" cmpd="sng" w="15875">
            <a:solidFill>
              <a:srgbClr val="ABC0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14"/>
          <p:cNvSpPr txBox="1"/>
          <p:nvPr/>
        </p:nvSpPr>
        <p:spPr>
          <a:xfrm>
            <a:off x="1373650" y="1514425"/>
            <a:ext cx="9416100" cy="3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DIAGRAMA DE PAQUETE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100">
                <a:solidFill>
                  <a:schemeClr val="dk1"/>
                </a:solidFill>
              </a:rPr>
              <a:t>El diagrama representa la organización lógica del sistema utilizando el patrón Modelo-Vista-Controlador, esta estructura permite una separación de responsabilidades, facilitando el mantenimiento y la posible escalabilidad del sistema de pagos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5268725" y="758100"/>
            <a:ext cx="39606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/>
              <a:t>VISTA DE IMPLEMENTACIÓN/DESARROLLO</a:t>
            </a:r>
            <a:endParaRPr b="1" sz="1800"/>
          </a:p>
        </p:txBody>
      </p:sp>
      <p:pic>
        <p:nvPicPr>
          <p:cNvPr id="146" name="Google Shape;14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1199" y="3190625"/>
            <a:ext cx="8251576" cy="366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1" name="Google Shape;1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20" y="20772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5"/>
          <p:cNvSpPr/>
          <p:nvPr/>
        </p:nvSpPr>
        <p:spPr>
          <a:xfrm>
            <a:off x="136080" y="369000"/>
            <a:ext cx="121917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DE EDIFICIO MIRADOR”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-3151575" y="757800"/>
            <a:ext cx="12191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SOFTWARE - MODELO 4+1 (UML)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15"/>
          <p:cNvCxnSpPr/>
          <p:nvPr/>
        </p:nvCxnSpPr>
        <p:spPr>
          <a:xfrm>
            <a:off x="0" y="757800"/>
            <a:ext cx="4085700" cy="300"/>
          </a:xfrm>
          <a:prstGeom prst="straightConnector1">
            <a:avLst/>
          </a:prstGeom>
          <a:noFill/>
          <a:ln cap="flat" cmpd="sng" w="15875">
            <a:solidFill>
              <a:srgbClr val="ABC0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15"/>
          <p:cNvSpPr txBox="1"/>
          <p:nvPr/>
        </p:nvSpPr>
        <p:spPr>
          <a:xfrm>
            <a:off x="244700" y="1892000"/>
            <a:ext cx="4269000" cy="3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DIAGRAMA DE ACTIVIDAD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El propósito de esta vista es capturar los aspectos dinámicos y el flujo de actividades del sistema para garantizar transacciones automáticas, seguras y trazables que reduzcan la morosidad y aporten transparencia a la gestión comunitaria.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213850" y="1456825"/>
            <a:ext cx="39606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/>
              <a:t>VISTA DE PROCESO</a:t>
            </a:r>
            <a:endParaRPr b="1" sz="1800"/>
          </a:p>
        </p:txBody>
      </p:sp>
      <p:pic>
        <p:nvPicPr>
          <p:cNvPr id="157" name="Google Shape;15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9425" y="668550"/>
            <a:ext cx="6522402" cy="618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2" name="Google Shape;1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20" y="20772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/>
          <p:nvPr/>
        </p:nvSpPr>
        <p:spPr>
          <a:xfrm>
            <a:off x="136080" y="369000"/>
            <a:ext cx="121917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DE EDIFICIO MIRADOR”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-3151575" y="757800"/>
            <a:ext cx="12191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SOFTWARE - MODELO 4+1 (UML)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16"/>
          <p:cNvCxnSpPr/>
          <p:nvPr/>
        </p:nvCxnSpPr>
        <p:spPr>
          <a:xfrm>
            <a:off x="0" y="757800"/>
            <a:ext cx="4085700" cy="300"/>
          </a:xfrm>
          <a:prstGeom prst="straightConnector1">
            <a:avLst/>
          </a:prstGeom>
          <a:noFill/>
          <a:ln cap="flat" cmpd="sng" w="15875">
            <a:solidFill>
              <a:srgbClr val="ABC0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16"/>
          <p:cNvSpPr txBox="1"/>
          <p:nvPr/>
        </p:nvSpPr>
        <p:spPr>
          <a:xfrm>
            <a:off x="244700" y="1892000"/>
            <a:ext cx="3517500" cy="4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DIAGRAMA DE DESPLIEGUE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E</a:t>
            </a:r>
            <a:r>
              <a:rPr b="1" lang="es-CL" sz="1700">
                <a:solidFill>
                  <a:schemeClr val="dk1"/>
                </a:solidFill>
              </a:rPr>
              <a:t>l diagrama muestra dos modalidades: el usuario paga de forma autónoma vía web y en donde el administrador registra manualmente los pagos en efectivo, centralizando todas las transacciones en la base de datos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213850" y="1456825"/>
            <a:ext cx="39606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/>
              <a:t>VISTA FÍSICA</a:t>
            </a:r>
            <a:endParaRPr b="1" sz="1800"/>
          </a:p>
        </p:txBody>
      </p:sp>
      <p:pic>
        <p:nvPicPr>
          <p:cNvPr id="168" name="Google Shape;16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6650" y="1368950"/>
            <a:ext cx="8475350" cy="49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3" name="Google Shape;1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20" y="20772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/>
          <p:nvPr/>
        </p:nvSpPr>
        <p:spPr>
          <a:xfrm>
            <a:off x="136080" y="369000"/>
            <a:ext cx="121917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DE EDIFICIO MIRADOR”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0" y="1432800"/>
            <a:ext cx="1219176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FUNCIONALES Y NO FUNCIONALES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17"/>
          <p:cNvCxnSpPr/>
          <p:nvPr/>
        </p:nvCxnSpPr>
        <p:spPr>
          <a:xfrm>
            <a:off x="0" y="757800"/>
            <a:ext cx="4085640" cy="360"/>
          </a:xfrm>
          <a:prstGeom prst="straightConnector1">
            <a:avLst/>
          </a:prstGeom>
          <a:noFill/>
          <a:ln cap="flat" cmpd="sng" w="15875">
            <a:solidFill>
              <a:srgbClr val="ABC0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17"/>
          <p:cNvSpPr/>
          <p:nvPr/>
        </p:nvSpPr>
        <p:spPr>
          <a:xfrm>
            <a:off x="400000" y="2250000"/>
            <a:ext cx="5595000" cy="44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90000" lIns="180000" spcFirstLastPara="1" rIns="18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1" i="0" lang="es-CL" sz="17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Funcionales del </a:t>
            </a:r>
            <a:r>
              <a:rPr b="1" lang="es-CL" sz="1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Subsistema</a:t>
            </a:r>
            <a:r>
              <a:rPr b="1" i="0" lang="es-CL" sz="17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(RF)</a:t>
            </a:r>
            <a:endParaRPr/>
          </a:p>
          <a:p>
            <a:pPr indent="-304800" lvl="0" marL="457200" rtl="0" algn="just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1" lang="es-CL" sz="1200">
                <a:solidFill>
                  <a:schemeClr val="dk1"/>
                </a:solidFill>
              </a:rPr>
              <a:t>RF-10. Registro de pagos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El sistema debe permitir registrar pagos manuales y automáticos, indicando fecha, monto, medio de pago, referencia, propiedad asociada y comprobante.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1" lang="es-CL" sz="1200">
                <a:solidFill>
                  <a:schemeClr val="dk1"/>
                </a:solidFill>
              </a:rPr>
              <a:t>RF-11. Emisión de comprobantes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El sistema debe generar comprobantes o recibos por cada pago registrado, con opción de descarga y envío digital.</a:t>
            </a:r>
            <a:endParaRPr sz="1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6200000" y="2250000"/>
            <a:ext cx="5595000" cy="44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90000" lIns="180000" spcFirstLastPara="1" rIns="18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1" i="0" lang="es-CL" sz="17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No Funcionales (RNF)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Usabilidad: interfaz intuitiva para usuarios con distinta alfabetización digital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Disponibilidad 99% mensual y rendimiento (respuesta &lt; 3s)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Escalabilidad para comunidades de distinto tamaño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Seguridad de acceso, protección de datos y trazabilidad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Confiabilidad, respaldo y recuperación ante fallos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Compatibilidad, mantenibilidad, configurabilidad, interoperabilidad, accesibilidad y localización 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20" y="20772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/>
          <p:nvPr/>
        </p:nvSpPr>
        <p:spPr>
          <a:xfrm>
            <a:off x="136080" y="369000"/>
            <a:ext cx="121917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DE EDIFICIO MIRADOR”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0" y="1432800"/>
            <a:ext cx="1219176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ESTÁNDARES DE CALIDAD - ISO25000 Y OTROS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18"/>
          <p:cNvCxnSpPr/>
          <p:nvPr/>
        </p:nvCxnSpPr>
        <p:spPr>
          <a:xfrm>
            <a:off x="0" y="757800"/>
            <a:ext cx="4085640" cy="360"/>
          </a:xfrm>
          <a:prstGeom prst="straightConnector1">
            <a:avLst/>
          </a:prstGeom>
          <a:noFill/>
          <a:ln cap="flat" cmpd="sng" w="15875">
            <a:solidFill>
              <a:srgbClr val="ABC0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614520" y="2250000"/>
            <a:ext cx="10962720" cy="43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90000" lIns="180000" spcFirstLastPara="1" rIns="18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s-CL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Atributos de calidad (ISO/IEC 25000 - SQuaRE)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Seguridad: protección de la información financiera y personal frente a accesos no autorizados, evitando fraudes en el cobro de gastos comunes.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Rendimiento (eficiencia): operaciones de pago y consulta procesadas en no más de 3 segundos (RNF-03).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Trazabilidad (funcionalidad/mantenibilidad): historial verificable de cada pago y cambio de estado, para transparencia administrativa.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Fiabilidad: cálculos y registros exactos, evitando errores en la liquidación de gastos comunes.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Usabilidad: interfaz intuitiva que permite operar el sistema sin necesidad de manuales.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s-CL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Otras normas aplicadas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ISO/IEC/IEEE 42010:2011 (descripción de arquitectura de software, modelo 4+1).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20" y="20772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/>
          <p:nvPr/>
        </p:nvSpPr>
        <p:spPr>
          <a:xfrm>
            <a:off x="150" y="992877"/>
            <a:ext cx="12191700" cy="26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PROTOTIPO DE ALTA FIDELIDAD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https://www.figma.com/make/hEy6Dv3KD0OBUOonExNMBG/Residential-Payment-Management-UI?t=UaGCmBHrpn1rmIPr-20&amp;fullscreen=1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20" y="20772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/>
          <p:nvPr/>
        </p:nvSpPr>
        <p:spPr>
          <a:xfrm>
            <a:off x="0" y="1459080"/>
            <a:ext cx="12191760" cy="75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DE PRUEBAS Y CASOS DE PRUEBA (ISO25000)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7475" y="2341865"/>
            <a:ext cx="8686800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6870" y="-6968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/>
          <p:nvPr/>
        </p:nvSpPr>
        <p:spPr>
          <a:xfrm>
            <a:off x="123425" y="366100"/>
            <a:ext cx="12191700" cy="7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ACCIONES DE MEJORA Y CONTROL DE VERSIONES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3942050" y="1681575"/>
            <a:ext cx="3637200" cy="42999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90000" lIns="180000" spcFirstLastPara="1" rIns="18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1" i="0" lang="es-CL" sz="17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control: versionado semántico (versión.subversión.corrección), que permite identificar con claridad el estado del prototipo.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s-CL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Herramientas: Git como sistema de control de versiones y GitHub como repositorio en la nube, permitiendo mantener el historial de cambios y facilitar la colaboración del equipo.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268850" y="986750"/>
            <a:ext cx="50925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ransition spd="slow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6870" y="-6968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/>
          <p:nvPr/>
        </p:nvSpPr>
        <p:spPr>
          <a:xfrm>
            <a:off x="123425" y="306979"/>
            <a:ext cx="12191700" cy="7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ACCIONES DE MEJORA Y CONTROL DE VERSIONES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268850" y="832625"/>
            <a:ext cx="50925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Acciones de mejora (heurísticas de Nielsen)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10 heurísticas evaluadas, todas cumplen correctamente en las cuales destacamos:</a:t>
            </a:r>
            <a:endParaRPr sz="1800"/>
          </a:p>
        </p:txBody>
      </p:sp>
      <p:pic>
        <p:nvPicPr>
          <p:cNvPr id="216" name="Google Shape;21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825" y="1449125"/>
            <a:ext cx="4888965" cy="542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4490" y="1513550"/>
            <a:ext cx="4324175" cy="542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2" name="Google Shape;2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20" y="207720"/>
            <a:ext cx="3141000" cy="78516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/>
          <p:nvPr/>
        </p:nvSpPr>
        <p:spPr>
          <a:xfrm>
            <a:off x="0" y="3044160"/>
            <a:ext cx="12191760" cy="75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